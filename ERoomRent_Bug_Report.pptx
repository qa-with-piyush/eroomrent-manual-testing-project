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1E3A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3A8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6653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91B1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C2D12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Total TCs</c:v>
                  </c:pt>
                  <c:pt idx="1">
                    <c:v>Passed</c:v>
                  </c:pt>
                  <c:pt idx="2">
                    <c:v>Failed</c:v>
                  </c:pt>
                  <c:pt idx="3">
                    <c:v>Bugs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34</c:v>
                </c:pt>
                <c:pt idx="1">
                  <c:v>23</c:v>
                </c:pt>
                <c:pt idx="2">
                  <c:v>11</c:v>
                </c:pt>
                <c:pt idx="3">
                  <c:v>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EEF2F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TCs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3A8A"/>
              </a:solidFill>
              <a:effectLst/>
            </c:spPr>
          </c:dPt>
          <c:dPt>
            <c:idx val="1"/>
            <c:bubble3D val="0"/>
            <c:spPr>
              <a:solidFill>
                <a:srgbClr val="7C3AED"/>
              </a:solidFill>
              <a:effectLst/>
            </c:spPr>
          </c:dPt>
          <c:dPt>
            <c:idx val="2"/>
            <c:bubble3D val="0"/>
            <c:spPr>
              <a:solidFill>
                <a:srgbClr val="0369A1"/>
              </a:solidFill>
              <a:effectLst/>
            </c:spPr>
          </c:dPt>
          <c:dPt>
            <c:idx val="3"/>
            <c:bubble3D val="0"/>
            <c:spPr>
              <a:solidFill>
                <a:srgbClr val="B45309"/>
              </a:solidFill>
              <a:effectLst/>
            </c:spPr>
          </c:dPt>
          <c:dPt>
            <c:idx val="4"/>
            <c:bubble3D val="0"/>
            <c:spPr>
              <a:solidFill>
                <a:srgbClr val="0F766E"/>
              </a:solidFill>
              <a:effectLst/>
            </c:spPr>
          </c:dPt>
          <c:dPt>
            <c:idx val="5"/>
            <c:bubble3D val="0"/>
            <c:spPr>
              <a:solidFill>
                <a:srgbClr val="9F1239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Search Module</c:v>
                </c:pt>
                <c:pt idx="1">
                  <c:v>Home Page</c:v>
                </c:pt>
                <c:pt idx="2">
                  <c:v>Owner Module</c:v>
                </c:pt>
                <c:pt idx="3">
                  <c:v>Mobile Navigation</c:v>
                </c:pt>
                <c:pt idx="4">
                  <c:v>Broker Module</c:v>
                </c:pt>
                <c:pt idx="5">
                  <c:v>Footer Section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14</c:v>
                </c:pt>
                <c:pt idx="1">
                  <c:v>3</c:v>
                </c:pt>
                <c:pt idx="2">
                  <c:v>8</c:v>
                </c:pt>
                <c:pt idx="3">
                  <c:v>4</c:v>
                </c:pt>
                <c:pt idx="4">
                  <c:v>4</c:v>
                </c:pt>
                <c:pt idx="5">
                  <c:v>1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solidFill>
      <a:srgbClr val="EEF2FB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00000"/>
                </a:solidFill>
                <a:latin typeface="Arial"/>
              </a:rPr>
              <a:t>Bugs per Module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Bugs</c:v>
                </c:pt>
              </c:strCache>
            </c:strRef>
          </c:tx>
          <c:spPr>
            <a:solidFill>
              <a:srgbClr val="1E3A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3A8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369A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45309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F766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F1239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Search Module</c:v>
                  </c:pt>
                  <c:pt idx="1">
                    <c:v>Home Page</c:v>
                  </c:pt>
                  <c:pt idx="2">
                    <c:v>Owner Module</c:v>
                  </c:pt>
                  <c:pt idx="3">
                    <c:v>Mobile Navigation</c:v>
                  </c:pt>
                  <c:pt idx="4">
                    <c:v>Broker Module</c:v>
                  </c:pt>
                  <c:pt idx="5">
                    <c:v>Footer Section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3</c:v>
                </c:pt>
                <c:pt idx="2">
                  <c:v>2</c:v>
                </c:pt>
                <c:pt idx="3">
                  <c:v>3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EEF2FB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Bugs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991B1B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Pt>
            <c:idx val="2"/>
            <c:bubble3D val="0"/>
            <c:spPr>
              <a:solidFill>
                <a:srgbClr val="166534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High</c:v>
                </c:pt>
                <c:pt idx="1">
                  <c:v>Medium</c:v>
                </c:pt>
                <c:pt idx="2">
                  <c:v>Low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</c:v>
                </c:pt>
                <c:pt idx="1">
                  <c:v>3</c:v>
                </c:pt>
                <c:pt idx="2">
                  <c:v>3</c:v>
                </c:pt>
              </c:numCache>
            </c:numRef>
          </c:val>
        </c:ser>
        <c:firstSliceAng val="0"/>
        <c:holeSize val="4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EEF2F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1" Type="http://schemas.openxmlformats.org/officeDocument/2006/relationships/image" Target="../media/image-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4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57200"/>
            <a:ext cx="1463040" cy="1463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0574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Testing Report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731520" y="28346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C518"/>
                </a:solidFill>
              </a:rPr>
              <a:t>ERoomRent Platform  ·  Manual QA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31520" y="3474720"/>
            <a:ext cx="1691640" cy="10058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" y="354787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34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731520" y="409651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BDD"/>
                </a:solidFill>
              </a:rPr>
              <a:t>Test Cases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514600" y="3474720"/>
            <a:ext cx="1691640" cy="100584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514600" y="354787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23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2514600" y="409651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BDD"/>
                </a:solidFill>
              </a:rPr>
              <a:t>Passed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97680" y="3474720"/>
            <a:ext cx="1691640" cy="100584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297680" y="354787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11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4297680" y="409651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BDD"/>
                </a:solidFill>
              </a:rPr>
              <a:t>Failed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080760" y="3474720"/>
            <a:ext cx="1691640" cy="1005840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080760" y="354787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11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6080760" y="409651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BDD"/>
                </a:solidFill>
              </a:rPr>
              <a:t>Bugs Found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31520" y="46634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Tested by: Piyush Bhagchandani  |  June 2026  |  ERoomRent Platform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583680" y="-457200"/>
            <a:ext cx="3200400" cy="3200400"/>
          </a:xfrm>
          <a:prstGeom prst="ellipse">
            <a:avLst/>
          </a:prstGeom>
          <a:solidFill>
            <a:srgbClr val="1E3A8A">
              <a:alpha val="40000"/>
            </a:srgbClr>
          </a:solidFill>
          <a:ln w="12700">
            <a:solidFill>
              <a:srgbClr val="1E3A8A">
                <a:alpha val="40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132320" y="2286000"/>
            <a:ext cx="2286000" cy="2286000"/>
          </a:xfrm>
          <a:prstGeom prst="ellipse">
            <a:avLst/>
          </a:prstGeom>
          <a:solidFill>
            <a:srgbClr val="F5C518">
              <a:alpha val="15000"/>
            </a:srgbClr>
          </a:solidFill>
          <a:ln w="12700">
            <a:solidFill>
              <a:srgbClr val="F5C518">
                <a:alpha val="1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461"/>
          </a:solidFill>
          <a:ln w="12700">
            <a:solidFill>
              <a:srgbClr val="0D24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Test Execution Summary</a:t>
            </a:r>
            <a:endParaRPr lang="en-US" sz="2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73152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84632" y="1005840"/>
            <a:ext cx="1920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84632" y="1005840"/>
            <a:ext cx="1920240" cy="25603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4632" y="12801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3A8A"/>
                </a:solidFill>
              </a:rPr>
              <a:t>34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484632" y="19933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Total Test Cases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569464" y="1005840"/>
            <a:ext cx="1920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6653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569464" y="1005840"/>
            <a:ext cx="1920240" cy="256032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569464" y="12801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66534"/>
                </a:solidFill>
              </a:rPr>
              <a:t>23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2569464" y="19933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Passed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654296" y="1005840"/>
            <a:ext cx="1920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1B1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54296" y="1005840"/>
            <a:ext cx="1920240" cy="256032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54296" y="12801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91B1B"/>
                </a:solidFill>
              </a:rPr>
              <a:t>11</a:t>
            </a:r>
            <a:endParaRPr lang="en-US" sz="4000" dirty="0"/>
          </a:p>
        </p:txBody>
      </p:sp>
      <p:sp>
        <p:nvSpPr>
          <p:cNvPr id="17" name="Text 14"/>
          <p:cNvSpPr/>
          <p:nvPr/>
        </p:nvSpPr>
        <p:spPr>
          <a:xfrm>
            <a:off x="4654296" y="19933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Failed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739128" y="1005840"/>
            <a:ext cx="1920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7C2D1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739128" y="1005840"/>
            <a:ext cx="1920240" cy="256032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739128" y="12801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7C2D12"/>
                </a:solidFill>
              </a:rPr>
              <a:t>11</a:t>
            </a:r>
            <a:endParaRPr lang="en-US" sz="4000" dirty="0"/>
          </a:p>
        </p:txBody>
      </p:sp>
      <p:sp>
        <p:nvSpPr>
          <p:cNvPr id="21" name="Text 18"/>
          <p:cNvSpPr/>
          <p:nvPr/>
        </p:nvSpPr>
        <p:spPr>
          <a:xfrm>
            <a:off x="6739128" y="19933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Bugs Reported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2286000" y="2743200"/>
            <a:ext cx="4572000" cy="68580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2286000" y="274320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Pass Rate: 67.6%</a:t>
            </a:r>
            <a:endParaRPr lang="en-US" sz="22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914400" y="3566160"/>
          <a:ext cx="7315200" cy="1097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461"/>
          </a:solidFill>
          <a:ln w="12700">
            <a:solidFill>
              <a:srgbClr val="0D2461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274320" y="4818888"/>
            <a:ext cx="8595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BBDD"/>
                </a:solidFill>
              </a:rPr>
              <a:t>ERoomRent Manual QA Report  |  June 2026  |  Tested by: Piyush Bhagchandani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461"/>
          </a:solidFill>
          <a:ln w="12700">
            <a:solidFill>
              <a:srgbClr val="0D24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Module-wise Breakdown</a:t>
            </a:r>
            <a:endParaRPr lang="en-US" sz="2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73152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960120"/>
            <a:ext cx="1325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960120"/>
            <a:ext cx="1325880" cy="2743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126187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Search Module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65760" y="167335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3A8A"/>
                </a:solidFill>
              </a:rPr>
              <a:t>14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365760" y="2020824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TCs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1344168" y="822960"/>
            <a:ext cx="365760" cy="3657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44168" y="822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1810512" y="960120"/>
            <a:ext cx="1325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1810512" y="960120"/>
            <a:ext cx="1325880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856232" y="126187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Home Page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810512" y="167335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3AED"/>
                </a:solidFill>
              </a:rPr>
              <a:t>3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1810512" y="2020824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TCs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2788920" y="822960"/>
            <a:ext cx="365760" cy="3657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788920" y="822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255264" y="960120"/>
            <a:ext cx="1325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369A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255264" y="960120"/>
            <a:ext cx="1325880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300984" y="126187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Owner Module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255264" y="167335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369A1"/>
                </a:solidFill>
              </a:rPr>
              <a:t>8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3255264" y="2020824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TCs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233672" y="822960"/>
            <a:ext cx="365760" cy="3657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233672" y="822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700016" y="960120"/>
            <a:ext cx="1325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700016" y="960120"/>
            <a:ext cx="1325880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745736" y="126187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Mobile Navigation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700016" y="167335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45309"/>
                </a:solidFill>
              </a:rPr>
              <a:t>4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4700016" y="2020824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TCs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5678424" y="822960"/>
            <a:ext cx="365760" cy="3657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678424" y="822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6144768" y="960120"/>
            <a:ext cx="1325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6144768" y="960120"/>
            <a:ext cx="1325880" cy="274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190488" y="126187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Broker Module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6144768" y="167335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766E"/>
                </a:solidFill>
              </a:rPr>
              <a:t>4</a:t>
            </a:r>
            <a:endParaRPr lang="en-US" sz="2200" dirty="0"/>
          </a:p>
        </p:txBody>
      </p:sp>
      <p:sp>
        <p:nvSpPr>
          <p:cNvPr id="38" name="Text 35"/>
          <p:cNvSpPr/>
          <p:nvPr/>
        </p:nvSpPr>
        <p:spPr>
          <a:xfrm>
            <a:off x="6144768" y="2020824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TCs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7123176" y="822960"/>
            <a:ext cx="365760" cy="3657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123176" y="822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7589520" y="960120"/>
            <a:ext cx="1325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9F123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7589520" y="960120"/>
            <a:ext cx="1325880" cy="274320"/>
          </a:xfrm>
          <a:prstGeom prst="rect">
            <a:avLst/>
          </a:prstGeom>
          <a:solidFill>
            <a:srgbClr val="9F1239"/>
          </a:solidFill>
          <a:ln w="12700">
            <a:solidFill>
              <a:srgbClr val="9F1239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635240" y="126187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Footer Section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7589520" y="167335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F1239"/>
                </a:solidFill>
              </a:rPr>
              <a:t>1</a:t>
            </a:r>
            <a:endParaRPr lang="en-US" sz="2200" dirty="0"/>
          </a:p>
        </p:txBody>
      </p:sp>
      <p:sp>
        <p:nvSpPr>
          <p:cNvPr id="45" name="Text 42"/>
          <p:cNvSpPr/>
          <p:nvPr/>
        </p:nvSpPr>
        <p:spPr>
          <a:xfrm>
            <a:off x="7589520" y="2020824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TCs</a:t>
            </a:r>
            <a:endParaRPr lang="en-US" sz="850" dirty="0"/>
          </a:p>
        </p:txBody>
      </p:sp>
      <p:sp>
        <p:nvSpPr>
          <p:cNvPr id="46" name="Shape 43"/>
          <p:cNvSpPr/>
          <p:nvPr/>
        </p:nvSpPr>
        <p:spPr>
          <a:xfrm>
            <a:off x="8567928" y="822960"/>
            <a:ext cx="365760" cy="3657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8567928" y="822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graphicFrame>
        <p:nvGraphicFramePr>
          <p:cNvPr id="48" name="Chart 0" descr=""/>
          <p:cNvGraphicFramePr/>
          <p:nvPr/>
        </p:nvGraphicFramePr>
        <p:xfrm>
          <a:off x="365760" y="2578608"/>
          <a:ext cx="411480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9" name="Chart 1" descr=""/>
          <p:cNvGraphicFramePr/>
          <p:nvPr/>
        </p:nvGraphicFramePr>
        <p:xfrm>
          <a:off x="4663440" y="2578608"/>
          <a:ext cx="411480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0" name="Shape 4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461"/>
          </a:solidFill>
          <a:ln w="12700">
            <a:solidFill>
              <a:srgbClr val="0D2461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274320" y="4818888"/>
            <a:ext cx="8595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BBDD"/>
                </a:solidFill>
              </a:rPr>
              <a:t>ERoomRent Manual QA Report  |  June 2026  |  Tested by: Piyush Bhagchandani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461"/>
          </a:solidFill>
          <a:ln w="12700">
            <a:solidFill>
              <a:srgbClr val="0D24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Bug Severity Breakdown</a:t>
            </a:r>
            <a:endParaRPr lang="en-US" sz="2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73152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914400"/>
            <a:ext cx="109728" cy="777240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91440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7F1D1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9601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</a:rPr>
              <a:t>Critical  —  0 Bugs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12984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No critical bugs found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65760" y="1874520"/>
            <a:ext cx="109728" cy="77724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02920" y="187452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991B1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0080" y="19202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1B1B"/>
                </a:solidFill>
              </a:rPr>
              <a:t>High  —  5 Bugs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0080" y="22585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Nav redirect, no forgot password, phone not clickable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65760" y="2834640"/>
            <a:ext cx="109728" cy="7772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283464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40080" y="28803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Medium  —  3 Bugs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40080" y="32186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UI overlapping text, card height, keyboard focus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65760" y="3794760"/>
            <a:ext cx="109728" cy="77724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02920" y="379476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6653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40080" y="38404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6534"/>
                </a:solidFill>
              </a:rPr>
              <a:t>Low  —  3 Bugs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40080" y="41788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Email not clickable, minor UX gaps</a:t>
            </a:r>
            <a:endParaRPr lang="en-US" sz="9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4754880" y="914400"/>
          <a:ext cx="40233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3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461"/>
          </a:solidFill>
          <a:ln w="12700">
            <a:solidFill>
              <a:srgbClr val="0D2461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274320" y="4818888"/>
            <a:ext cx="8595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BBDD"/>
                </a:solidFill>
              </a:rPr>
              <a:t>ERoomRent Manual QA Report  |  June 2026  |  Tested by: Piyush Bhagchandani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461"/>
          </a:solidFill>
          <a:ln w="12700">
            <a:solidFill>
              <a:srgbClr val="0D24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Search Module — Bugs Found</a:t>
            </a:r>
            <a:endParaRPr lang="en-US" sz="2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73152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1 Bug  |  1 Medium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65760" y="1188720"/>
            <a:ext cx="8412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188720"/>
            <a:ext cx="109728" cy="10058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1280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461"/>
                </a:solidFill>
              </a:rPr>
              <a:t>BUG_01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691640" y="1280160"/>
            <a:ext cx="914400" cy="256032"/>
          </a:xfrm>
          <a:prstGeom prst="roundRect">
            <a:avLst>
              <a:gd name="adj" fmla="val 1785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691640" y="12801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Medium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94360" y="157276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Keyboard Accessibility Failure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94360" y="185623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Tab navigation does not show visible focus indicators on dropdowns, buttons, or menu items — making keyboard-only navigation impossible.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65760" y="2423160"/>
            <a:ext cx="8412480" cy="594360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242316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</a:rPr>
              <a:t>✔  13 out of 14 Search Module test cases passed — dropdowns, responsive layout, and UX all functional.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461"/>
          </a:solidFill>
          <a:ln w="12700">
            <a:solidFill>
              <a:srgbClr val="0D246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74320" y="4818888"/>
            <a:ext cx="8595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BBDD"/>
                </a:solidFill>
              </a:rPr>
              <a:t>ERoomRent Manual QA Report  |  June 2026  |  Tested by: Piyush Bhagchandani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461"/>
          </a:solidFill>
          <a:ln w="12700">
            <a:solidFill>
              <a:srgbClr val="0D24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Home Page — Bugs Found</a:t>
            </a:r>
            <a:endParaRPr lang="en-US" sz="2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73152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3 Bugs  |  2 High · 1 Medium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65760" y="1170432"/>
            <a:ext cx="8412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170432"/>
            <a:ext cx="109728" cy="89611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124358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461"/>
                </a:solidFill>
              </a:rPr>
              <a:t>BUG_02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691640" y="1243584"/>
            <a:ext cx="914400" cy="237744"/>
          </a:xfrm>
          <a:prstGeom prst="roundRect">
            <a:avLst>
              <a:gd name="adj" fmla="val 19231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691640" y="124358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High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94360" y="1499616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Phone Number Not Clickable on Mobile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94360" y="1773936"/>
            <a:ext cx="7955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Phone number displayed in the header is plain text — tapping it on mobile does not open the device dialer.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65760" y="2176272"/>
            <a:ext cx="8412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65760" y="2176272"/>
            <a:ext cx="109728" cy="89611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" y="224942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461"/>
                </a:solidFill>
              </a:rPr>
              <a:t>BUG_03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691640" y="2249424"/>
            <a:ext cx="914400" cy="237744"/>
          </a:xfrm>
          <a:prstGeom prst="roundRect">
            <a:avLst>
              <a:gd name="adj" fmla="val 19231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691640" y="224942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High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94360" y="2505456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'Powered By' Section Text Overlapping on Mobile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594360" y="2779776"/>
            <a:ext cx="7955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Text in the 'Powered By' section overlaps and becomes unreadable in mobile view, causing UI distortion.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365760" y="3182112"/>
            <a:ext cx="8412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65760" y="3182112"/>
            <a:ext cx="109728" cy="8961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4360" y="325526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461"/>
                </a:solidFill>
              </a:rPr>
              <a:t>BUG_04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1691640" y="3255264"/>
            <a:ext cx="914400" cy="237744"/>
          </a:xfrm>
          <a:prstGeom prst="roundRect">
            <a:avLst>
              <a:gd name="adj" fmla="val 19231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691640" y="32552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Medium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94360" y="3511296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Inconsistent Feature Card Heights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594360" y="3785616"/>
            <a:ext cx="7955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The 'Create Your Account' card appears shorter than the other two cards in the 'Working Progress' section on desktop.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461"/>
          </a:solidFill>
          <a:ln w="12700">
            <a:solidFill>
              <a:srgbClr val="0D246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74320" y="4818888"/>
            <a:ext cx="8595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BBDD"/>
                </a:solidFill>
              </a:rPr>
              <a:t>ERoomRent Manual QA Report  |  June 2026  |  Tested by: Piyush Bhagchandani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461"/>
          </a:solidFill>
          <a:ln w="12700">
            <a:solidFill>
              <a:srgbClr val="0D24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Owner &amp; Navigation Module — Bugs Found</a:t>
            </a:r>
            <a:endParaRPr lang="en-US" sz="2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73152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5 Bugs  |  3 High · 2 Medium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65760" y="1152144"/>
            <a:ext cx="8412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152144"/>
            <a:ext cx="109728" cy="80467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12161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461"/>
                </a:solidFill>
              </a:rPr>
              <a:t>BUG_05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1691640" y="1216152"/>
            <a:ext cx="914400" cy="219456"/>
          </a:xfrm>
          <a:prstGeom prst="roundRect">
            <a:avLst>
              <a:gd name="adj" fmla="val 20833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691640" y="12161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High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94360" y="1453896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Owner-G Mobile Menu Doesn't Expand — Direct Redirect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94360" y="1700784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Tapping Owner-G on mobile redirects immediately to Owner Login instead of showing submenu (Login + Register).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65760" y="2048256"/>
            <a:ext cx="8412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65760" y="2048256"/>
            <a:ext cx="109728" cy="80467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" y="211226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461"/>
                </a:solidFill>
              </a:rPr>
              <a:t>BUG_06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1691640" y="2112264"/>
            <a:ext cx="914400" cy="219456"/>
          </a:xfrm>
          <a:prstGeom prst="roundRect">
            <a:avLst>
              <a:gd name="adj" fmla="val 20833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691640" y="211226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High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594360" y="2350008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Broker-G Mobile Menu Redirects to Owner Login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94360" y="2596896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Tapping Broker-G on mobile incorrectly redirects to the Owner Login page instead of showing Broker submenu.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365760" y="2944368"/>
            <a:ext cx="8412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65760" y="2944368"/>
            <a:ext cx="109728" cy="80467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4360" y="300837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461"/>
                </a:solidFill>
              </a:rPr>
              <a:t>BUG_07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1691640" y="3008376"/>
            <a:ext cx="914400" cy="219456"/>
          </a:xfrm>
          <a:prstGeom prst="roundRect">
            <a:avLst>
              <a:gd name="adj" fmla="val 20833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691640" y="3008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High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594360" y="3246120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No 'Forgot Password' Option on Owner Login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94360" y="3493008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Owner Login page has no account recovery link — locked owners must contact support manually.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365760" y="3840480"/>
            <a:ext cx="8412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365760" y="3840480"/>
            <a:ext cx="109728" cy="8046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4360" y="390448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461"/>
                </a:solidFill>
              </a:rPr>
              <a:t>BUG_08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1691640" y="3904488"/>
            <a:ext cx="914400" cy="219456"/>
          </a:xfrm>
          <a:prstGeom prst="roundRect">
            <a:avLst>
              <a:gd name="adj" fmla="val 2083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691640" y="39044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Medium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594360" y="4142232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Footer Email Not Clickable on Mobile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594360" y="4389120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Email address in the footer is plain text — tapping it on mobile does not open the email application.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461"/>
          </a:solidFill>
          <a:ln w="12700">
            <a:solidFill>
              <a:srgbClr val="0D2461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74320" y="4818888"/>
            <a:ext cx="8595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BBDD"/>
                </a:solidFill>
              </a:rPr>
              <a:t>ERoomRent Manual QA Report  |  June 2026  |  Tested by: Piyush Bhagchandani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461"/>
          </a:solidFill>
          <a:ln w="12700">
            <a:solidFill>
              <a:srgbClr val="0D24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Broker Module — Bugs Found</a:t>
            </a:r>
            <a:endParaRPr lang="en-US" sz="2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73152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3 Bugs  |  2 High · 1 Medium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65760" y="1188720"/>
            <a:ext cx="8412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188720"/>
            <a:ext cx="109728" cy="89611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12618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461"/>
                </a:solidFill>
              </a:rPr>
              <a:t>BUG_09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691640" y="1261872"/>
            <a:ext cx="914400" cy="237744"/>
          </a:xfrm>
          <a:prstGeom prst="roundRect">
            <a:avLst>
              <a:gd name="adj" fmla="val 19231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691640" y="126187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High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94360" y="1517904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Broker-G Redirects to Owner Login (Desktop)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94360" y="1792224"/>
            <a:ext cx="7955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Clicking Broker-G menu on desktop redirects to Owner Login instead of Broker module or submenu.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65760" y="2194560"/>
            <a:ext cx="8412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65760" y="2194560"/>
            <a:ext cx="109728" cy="89611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" y="22677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461"/>
                </a:solidFill>
              </a:rPr>
              <a:t>BUG_10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691640" y="2267712"/>
            <a:ext cx="914400" cy="237744"/>
          </a:xfrm>
          <a:prstGeom prst="roundRect">
            <a:avLst>
              <a:gd name="adj" fmla="val 19231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691640" y="22677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High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94360" y="2523744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Broker-G Dropdown Doesn't Expand on Mobile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594360" y="2798064"/>
            <a:ext cx="7955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Tapping Broker-G on mobile redirects to Owner Login instead of expanding the Broker submenu.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365760" y="3200400"/>
            <a:ext cx="8412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65760" y="3200400"/>
            <a:ext cx="109728" cy="8961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4360" y="32735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461"/>
                </a:solidFill>
              </a:rPr>
              <a:t>BUG_11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1691640" y="3273552"/>
            <a:ext cx="914400" cy="237744"/>
          </a:xfrm>
          <a:prstGeom prst="roundRect">
            <a:avLst>
              <a:gd name="adj" fmla="val 19231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691640" y="32735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Medium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94360" y="3529584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Header Phone Number Plain Text (Duplicate of BUG_02)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594360" y="3803904"/>
            <a:ext cx="7955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Phone number '09424886635' in the header has no tel: hyperlink — same issue confirmed in header and footer.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365760" y="4206240"/>
            <a:ext cx="8412480" cy="457200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48640" y="42062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6534"/>
                </a:solidFill>
              </a:rPr>
              <a:t>✔  Broker Login form validation and navigation links passed all test cases on desktop.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461"/>
          </a:solidFill>
          <a:ln w="12700">
            <a:solidFill>
              <a:srgbClr val="0D246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74320" y="4818888"/>
            <a:ext cx="8595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BBDD"/>
                </a:solidFill>
              </a:rPr>
              <a:t>ERoomRent Manual QA Report  |  June 2026  |  Tested by: Piyush Bhagchandani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461"/>
          </a:solidFill>
          <a:ln w="12700">
            <a:solidFill>
              <a:srgbClr val="0D24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Bug Summary Table</a:t>
            </a:r>
            <a:endParaRPr lang="en-US" sz="2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73152"/>
            <a:ext cx="502920" cy="502920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8595360" cy="3886200"/>
        </p:xfrm>
        <a:graphic>
          <a:graphicData uri="http://schemas.openxmlformats.org/drawingml/2006/table">
            <a:tbl>
              <a:tblPr/>
              <a:tblGrid>
                <a:gridCol w="777240"/>
                <a:gridCol w="1188720"/>
                <a:gridCol w="822960"/>
                <a:gridCol w="4297680"/>
                <a:gridCol w="594360"/>
              </a:tblGrid>
              <a:tr h="3238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Bug ID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4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Module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4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Severity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4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Scenario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4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461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BUG_01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Search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</a:rPr>
                        <a:t>Medium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Keyboard accessibility — no focus indicators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</a:rPr>
                        <a:t>Open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BUG_02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Home Page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EA580C"/>
                          </a:solidFill>
                        </a:rPr>
                        <a:t>High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Phone number not clickable on mobile (header)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</a:rPr>
                        <a:t>Open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BUG_03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Home Page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EA580C"/>
                          </a:solidFill>
                        </a:rPr>
                        <a:t>High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Powered By section text overlaps on mobile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</a:rPr>
                        <a:t>Open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BUG_04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Home Page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</a:rPr>
                        <a:t>Medium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Feature card height inconsistency on desktop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</a:rPr>
                        <a:t>Open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BUG_05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Owner / Nav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EA580C"/>
                          </a:solidFill>
                        </a:rPr>
                        <a:t>High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Owner-G mobile menu redirects instead of expanding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</a:rPr>
                        <a:t>Open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BUG_06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Mobile Nav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EA580C"/>
                          </a:solidFill>
                        </a:rPr>
                        <a:t>High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Broker-G mobile menu redirects to Owner Login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</a:rPr>
                        <a:t>Open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BUG_07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Owner Login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EA580C"/>
                          </a:solidFill>
                        </a:rPr>
                        <a:t>High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No Forgot Password / account recovery option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</a:rPr>
                        <a:t>Open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BUG_08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Footer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</a:rPr>
                        <a:t>Medium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Footer email not clickable on mobile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</a:rPr>
                        <a:t>Open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BUG_09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Broker / Nav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EA580C"/>
                          </a:solidFill>
                        </a:rPr>
                        <a:t>High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Broker-G redirects to Owner Login on desktop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</a:rPr>
                        <a:t>Open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BUG_10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Broker Mobile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EA580C"/>
                          </a:solidFill>
                        </a:rPr>
                        <a:t>High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Broker-G dropdown doesn't expand on mobile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</a:rPr>
                        <a:t>Open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BUG_11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Header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</a:rPr>
                        <a:t>Medium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Header phone number plain text, no tel: link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</a:rPr>
                        <a:t>Open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461"/>
          </a:solidFill>
          <a:ln w="12700">
            <a:solidFill>
              <a:srgbClr val="0D2461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74320" y="4818888"/>
            <a:ext cx="8595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BBDD"/>
                </a:solidFill>
              </a:rPr>
              <a:t>ERoomRent Manual QA Report  |  June 2026  |  Tested by: Piyush Bhagchandani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461"/>
          </a:solidFill>
          <a:ln w="12700">
            <a:solidFill>
              <a:srgbClr val="0D24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Key Findings &amp; Recommendations</a:t>
            </a:r>
            <a:endParaRPr lang="en-US" sz="2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73152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0040" y="868680"/>
            <a:ext cx="4114800" cy="160020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0040" y="868680"/>
            <a:ext cx="4114800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114300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🔴  Mobile Navigation Broken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11480" y="1554480"/>
            <a:ext cx="38862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Owner-G and Broker-G menus immediately redirect on mobile instead of expanding submenu. Core navigation non-functional for mobile users.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754880" y="868680"/>
            <a:ext cx="4114800" cy="1600200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868680"/>
            <a:ext cx="4114800" cy="2743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46320" y="114300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</a:rPr>
              <a:t>🟠  No Account Recovery for Owners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46320" y="1554480"/>
            <a:ext cx="38862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Owner Login has no 'Forgot Password' link — locked owners cannot self-recover. Must be added before production.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20040" y="2697480"/>
            <a:ext cx="4114800" cy="1600200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0040" y="2697480"/>
            <a:ext cx="4114800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1480" y="297180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</a:rPr>
              <a:t>🟡  Phone &amp; Email Links Missing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11480" y="3383280"/>
            <a:ext cx="38862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Both phone number and email in header/footer lack clickable links (tel:/mailto:). Basic mobile UX requirement failing.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754880" y="2697480"/>
            <a:ext cx="4114800" cy="1600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754880" y="2697480"/>
            <a:ext cx="4114800" cy="274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46320" y="297180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</a:rPr>
              <a:t>🔵  Keyboard Accessibility Non-Compliant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846320" y="3383280"/>
            <a:ext cx="38862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No visible focus indicators on interactive elements — violates WCAG accessibility standards and blocks keyboard-only users.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461"/>
          </a:solidFill>
          <a:ln w="12700">
            <a:solidFill>
              <a:srgbClr val="0D246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74320" y="4818888"/>
            <a:ext cx="8595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BBDD"/>
                </a:solidFill>
              </a:rPr>
              <a:t>ERoomRent Manual QA Report  |  June 2026  |  Tested by: Piyush Bhagchandani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24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457200"/>
            <a:ext cx="3200400" cy="3200400"/>
          </a:xfrm>
          <a:prstGeom prst="ellipse">
            <a:avLst/>
          </a:prstGeom>
          <a:solidFill>
            <a:srgbClr val="1E3A8A">
              <a:alpha val="40000"/>
            </a:srgbClr>
          </a:solidFill>
          <a:ln w="12700">
            <a:solidFill>
              <a:srgbClr val="1E3A8A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2286000"/>
            <a:ext cx="2286000" cy="2286000"/>
          </a:xfrm>
          <a:prstGeom prst="ellipse">
            <a:avLst/>
          </a:prstGeom>
          <a:solidFill>
            <a:srgbClr val="F5C518">
              <a:alpha val="15000"/>
            </a:srgbClr>
          </a:solidFill>
          <a:ln w="12700">
            <a:solidFill>
              <a:srgbClr val="F5C518">
                <a:alpha val="15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65760"/>
            <a:ext cx="1280160" cy="1280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173736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Testing Complete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31520" y="24231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C518"/>
                </a:solidFill>
              </a:rPr>
              <a:t>ERoomRent Manual QA Report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31520" y="2926080"/>
            <a:ext cx="201168" cy="201168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05840" y="29077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BDD"/>
                </a:solidFill>
              </a:rPr>
              <a:t>34 test cases executed across 6 modules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31520" y="3310128"/>
            <a:ext cx="201168" cy="201168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32918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BDD"/>
                </a:solidFill>
              </a:rPr>
              <a:t>11 bugs identified and documented with Defect IDs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31520" y="3694176"/>
            <a:ext cx="201168" cy="201168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05840" y="367588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BDD"/>
                </a:solidFill>
              </a:rPr>
              <a:t>0 Critical · 5 High · 3 Medium · 3 Low severity bugs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31520" y="4078224"/>
            <a:ext cx="201168" cy="201168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05840" y="405993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BDD"/>
                </a:solidFill>
              </a:rPr>
              <a:t>Pass rate: 67.6% — recommend fixes before production release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31520" y="4663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Tested by: Piyush Bhagchandani  |  June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ERoomRent QA Testing Report</dc:title>
  <dc:subject>PptxGenJS Presentation</dc:subject>
  <dc:creator>PptxGenJS</dc:creator>
  <cp:lastModifiedBy>PptxGenJS</cp:lastModifiedBy>
  <cp:revision>1</cp:revision>
  <dcterms:created xsi:type="dcterms:W3CDTF">2026-06-05T23:10:42Z</dcterms:created>
  <dcterms:modified xsi:type="dcterms:W3CDTF">2026-06-05T23:10:42Z</dcterms:modified>
</cp:coreProperties>
</file>